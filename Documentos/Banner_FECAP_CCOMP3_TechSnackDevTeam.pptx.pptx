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607">
          <p15:clr>
            <a:srgbClr val="A4A3A4"/>
          </p15:clr>
        </p15:guide>
        <p15:guide id="2" pos="907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jPCB/a5QBTsH/wCf02D2KsP+PR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C4B2A4-6A41-56D8-D0AE-D307726BAC0C}" v="349" dt="2025-11-10T18:19:18.910"/>
    <p1510:client id="{2EBFD51A-D066-000A-5264-31E197F0C763}" v="334" dt="2025-11-10T18:50:30.329"/>
    <p1510:client id="{3C3297D1-48DD-C17E-7B99-544BE24B0D0E}" v="356" dt="2025-11-10T19:20:04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056" y="-3258"/>
      </p:cViewPr>
      <p:guideLst>
        <p:guide orient="horz" pos="13607"/>
        <p:guide pos="90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8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48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48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48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latin typeface="Calibri"/>
                <a:ea typeface="Calibri"/>
                <a:cs typeface="Calibri"/>
                <a:sym typeface="Calibri"/>
              </a:rPr>
              <a:t>1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2160880" y="13420305"/>
            <a:ext cx="24478668" cy="925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4319642" y="24480786"/>
            <a:ext cx="20161144" cy="1103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399"/>
              <a:buFont typeface="Arial"/>
              <a:buNone/>
              <a:defRPr/>
            </a:lvl1pPr>
            <a:lvl2pPr lvl="1" algn="ctr">
              <a:spcBef>
                <a:spcPts val="2533"/>
              </a:spcBef>
              <a:spcAft>
                <a:spcPts val="0"/>
              </a:spcAft>
              <a:buClr>
                <a:schemeClr val="dk1"/>
              </a:buClr>
              <a:buSzPts val="12665"/>
              <a:buFont typeface="Arial"/>
              <a:buNone/>
              <a:defRPr/>
            </a:lvl2pPr>
            <a:lvl3pPr lvl="2" algn="ctr"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799"/>
              <a:buFont typeface="Arial"/>
              <a:buNone/>
              <a:defRPr/>
            </a:lvl3pPr>
            <a:lvl4pPr lvl="3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4pPr>
            <a:lvl5pPr lvl="4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5pPr>
            <a:lvl6pPr lvl="5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6pPr>
            <a:lvl7pPr lvl="6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7pPr>
            <a:lvl8pPr lvl="7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8pPr>
            <a:lvl9pPr lvl="8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439175" y="10080573"/>
            <a:ext cx="25922076" cy="2851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2275166" y="27761258"/>
            <a:ext cx="24480784" cy="858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333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2275166" y="18309267"/>
            <a:ext cx="24480784" cy="945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b" anchorCtr="0">
            <a:noAutofit/>
          </a:bodyPr>
          <a:lstStyle>
            <a:lvl1pPr marL="457200" lvl="0" indent="-228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sz="2666"/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/>
            </a:lvl3pPr>
            <a:lvl4pPr marL="1828800" lvl="3" indent="-228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4pPr>
            <a:lvl5pPr marL="2286000" lvl="4" indent="-228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5pPr>
            <a:lvl6pPr marL="2743200" lvl="5" indent="-228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6pPr>
            <a:lvl7pPr marL="3200400" lvl="6" indent="-228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7pPr>
            <a:lvl8pPr marL="3657600" lvl="7" indent="-228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8pPr>
            <a:lvl9pPr marL="4114800" lvl="8" indent="-228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439175" y="10080573"/>
            <a:ext cx="12859449" cy="2851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lvl="0" indent="-465645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sz="3733"/>
            </a:lvl1pPr>
            <a:lvl2pPr marL="914400" lvl="1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/>
            </a:lvl2pPr>
            <a:lvl3pPr marL="1371600" lvl="2" indent="-39789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/>
            </a:lvl3pPr>
            <a:lvl4pPr marL="1828800" lvl="3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14501801" y="10080573"/>
            <a:ext cx="12859449" cy="2851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lvl="0" indent="-465645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sz="3733"/>
            </a:lvl1pPr>
            <a:lvl2pPr marL="914400" lvl="1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/>
            </a:lvl2pPr>
            <a:lvl3pPr marL="1371600" lvl="2" indent="-39789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/>
            </a:lvl3pPr>
            <a:lvl4pPr marL="1828800" lvl="3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439175" y="9669985"/>
            <a:ext cx="12726114" cy="4029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b" anchorCtr="0">
            <a:noAutofit/>
          </a:bodyPr>
          <a:lstStyle>
            <a:lvl1pPr marL="457200" lvl="0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/>
            </a:lvl1pPr>
            <a:lvl2pPr marL="914400" lvl="1" indent="-228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sz="2666" b="1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3pPr>
            <a:lvl4pPr marL="1828800" lvl="3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4pPr>
            <a:lvl5pPr marL="2286000" lvl="4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5pPr>
            <a:lvl6pPr marL="2743200" lvl="5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6pPr>
            <a:lvl7pPr marL="3200400" lvl="6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7pPr>
            <a:lvl8pPr marL="3657600" lvl="7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8pPr>
            <a:lvl9pPr marL="4114800" lvl="8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439175" y="13699675"/>
            <a:ext cx="12726114" cy="2489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39789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–"/>
              <a:defRPr sz="2133"/>
            </a:lvl4pPr>
            <a:lvl5pPr marL="2286000" lvl="4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5pPr>
            <a:lvl6pPr marL="2743200" lvl="5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6pPr>
            <a:lvl7pPr marL="3200400" lvl="6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7pPr>
            <a:lvl8pPr marL="3657600" lvl="7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8pPr>
            <a:lvl9pPr marL="4114800" lvl="8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14630904" y="9669985"/>
            <a:ext cx="12730346" cy="4029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b" anchorCtr="0">
            <a:noAutofit/>
          </a:bodyPr>
          <a:lstStyle>
            <a:lvl1pPr marL="457200" lvl="0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/>
            </a:lvl1pPr>
            <a:lvl2pPr marL="914400" lvl="1" indent="-228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sz="2666" b="1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3pPr>
            <a:lvl4pPr marL="1828800" lvl="3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4pPr>
            <a:lvl5pPr marL="2286000" lvl="4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5pPr>
            <a:lvl6pPr marL="2743200" lvl="5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6pPr>
            <a:lvl7pPr marL="3200400" lvl="6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7pPr>
            <a:lvl8pPr marL="3657600" lvl="7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8pPr>
            <a:lvl9pPr marL="4114800" lvl="8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14630904" y="13699675"/>
            <a:ext cx="12730346" cy="2489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39789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–"/>
              <a:defRPr sz="2133"/>
            </a:lvl4pPr>
            <a:lvl5pPr marL="2286000" lvl="4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5pPr>
            <a:lvl6pPr marL="2743200" lvl="5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6pPr>
            <a:lvl7pPr marL="3200400" lvl="6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7pPr>
            <a:lvl8pPr marL="3657600" lvl="7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8pPr>
            <a:lvl9pPr marL="4114800" lvl="8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439175" y="1720661"/>
            <a:ext cx="9475273" cy="7318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66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1259425" y="1720662"/>
            <a:ext cx="16101825" cy="3687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lvl="0" indent="-499491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6"/>
              <a:buFont typeface="Arial"/>
              <a:buChar char="•"/>
              <a:defRPr sz="4266"/>
            </a:lvl1pPr>
            <a:lvl2pPr marL="914400" lvl="1" indent="-465645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/>
            </a:lvl2pPr>
            <a:lvl3pPr marL="1371600" lvl="2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3pPr>
            <a:lvl4pPr marL="1828800" lvl="3" indent="-39789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4pPr>
            <a:lvl5pPr marL="2286000" lvl="4" indent="-39789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5pPr>
            <a:lvl6pPr marL="2743200" lvl="5" indent="-39789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6pPr>
            <a:lvl7pPr marL="3200400" lvl="6" indent="-39789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7pPr>
            <a:lvl8pPr marL="3657600" lvl="7" indent="-39789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8pPr>
            <a:lvl9pPr marL="4114800" lvl="8" indent="-39789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439175" y="9039287"/>
            <a:ext cx="9475273" cy="29551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lvl="0" indent="-228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2pPr>
            <a:lvl3pPr marL="1371600" lvl="2" indent="-228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5644529" y="30239601"/>
            <a:ext cx="17280678" cy="3570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66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5644529" y="3860375"/>
            <a:ext cx="17280678" cy="2591996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5644529" y="33810024"/>
            <a:ext cx="17280678" cy="5070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lvl="0" indent="-228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2pPr>
            <a:lvl3pPr marL="1371600" lvl="2" indent="-228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144977" y="11374771"/>
            <a:ext cx="28510473" cy="2592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5690032" y="16919828"/>
            <a:ext cx="36861919" cy="6480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-7372595" y="10540898"/>
            <a:ext cx="36861919" cy="19238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6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6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6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6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6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6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6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6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6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439175" y="10080573"/>
            <a:ext cx="25922076" cy="2851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marR="0" lvl="0" indent="-1142936" algn="l" rtl="0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399"/>
              <a:buFont typeface="Arial"/>
              <a:buChar char="•"/>
              <a:defRPr sz="1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1032827" algn="l" rtl="0">
              <a:spcBef>
                <a:spcPts val="2533"/>
              </a:spcBef>
              <a:spcAft>
                <a:spcPts val="0"/>
              </a:spcAft>
              <a:buClr>
                <a:schemeClr val="dk1"/>
              </a:buClr>
              <a:buSzPts val="12665"/>
              <a:buFont typeface="Arial"/>
              <a:buChar char="–"/>
              <a:defRPr sz="1266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914336" algn="l" rtl="0"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799"/>
              <a:buFont typeface="Arial"/>
              <a:buChar char="•"/>
              <a:defRPr sz="10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804291" algn="l" rtl="0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–"/>
              <a:defRPr sz="90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804291" algn="l" rtl="0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sz="90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804291" algn="l" rtl="0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sz="90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804291" algn="l" rtl="0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sz="90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804291" algn="l" rtl="0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sz="90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804291" algn="l" rtl="0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sz="90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397" y="0"/>
            <a:ext cx="28908094" cy="4317934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-1388" y="2703684"/>
            <a:ext cx="28800425" cy="66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33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Esther Oliveira Costa; Fernanda Loura da Silva; Higor Fonseca; João Victor de Faria; Thiffany Morais Vieira da Silva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690522" y="4992304"/>
            <a:ext cx="13284851" cy="6391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 a equipe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6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r>
              <a:rPr lang="pt-BR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TECHSNACK DEV TEAM é formado por estudantes dedicados que se uniram com o objetivo de desenvolver uma solução eficiente, prática e intuitiva para a cantina da faculdade. Durante o desenvolvimento do aplicativo Comedoria da Tia, o grupo aplicou seus conhecimentos em tecnologia, design e análise de dados para modernizar a cantina da FECAP, otimizando a rotina dos alunos e melhorando sua experiência de consumo. Cada integrante teve um papel essencial no projeto: Fernanda atuou no desenvolvimento mobile e na integração com o banco de dados SQLite; Igor foi responsável pela gestão do projeto, análise de requisitos e análise descritiva de dados; João Vitor desenvolveu o back-end no Android Studio, implementando integrações com APIs REST e tratamento de JSON; Esther ficou encarregada do design visual e da identidade do aplicativo, garantindo coerência estética e boa usabilidade; e Thiffany cuidou do design de interface (UI/UX) no Figma, criando telas intuitivas e acessíveis.</a:t>
            </a:r>
            <a:endParaRPr sz="2666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99"/>
              <a:buFont typeface="Arial"/>
              <a:buNone/>
            </a:pPr>
            <a:endParaRPr sz="809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>
            <a:spLocks noGrp="1"/>
          </p:cNvSpPr>
          <p:nvPr>
            <p:ph type="ctrTitle"/>
          </p:nvPr>
        </p:nvSpPr>
        <p:spPr>
          <a:xfrm>
            <a:off x="533295" y="1091039"/>
            <a:ext cx="27924315" cy="2258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6" b="1"/>
              <a:t>COMEDORIA DA TIA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1540883" y="288300"/>
            <a:ext cx="25809904" cy="161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425" tIns="205700" rIns="411425" bIns="20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999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Semana de Tecnologia FECAP 2025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14653154" y="4992305"/>
            <a:ext cx="13284851" cy="7068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 a ser tratado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6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pt-BR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Durante o levantamento de requisitos, identificamos que a cantina da FECAP enfrenta longas filas e dificuldades para gerenciar o grande volume de pedidos nos intervalos entre as aulas. Muitos alunos perdem tempo na fila e acabam sem conseguir comprar o que desejam, enquanto a equipe da cantina encontra dificuldades para atender a demanda rapidamente.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Foi identificada a necessidade de uma solução prática e eficiente para otimizar o atendimento e reduzir as filas, sem aumentar a carga de trabalho da equipe.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Nosso desafio foi criar um aplicativo móvel intuitivo  que facilite a consulta do cardápio, permita pedidos antecipados e integre informações para melhorar a gestão da cantina. A proposta visa melhorar a experiência dos alunos e a eficiência do serviço.	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6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6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6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630353" y="33543418"/>
            <a:ext cx="13318910" cy="6801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Solução proposta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6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pt-B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solução para o problema identificado, desenvolvemos o Comedoria da Tia, um aplicativo mobile para Android, criado em Java no Android Studio. O app permite que os alunos realizem pedidos e pagamentos antecipados de forma prática e segura, reduzindo filas e otimizando o atendimento na cantina da FECAP.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usuários podem acessar o cardápio atualizado, escolher os produtos desejados, efetuar o pagamento pelo próprio app via Mercado Pago e retirar o pedido pronto no balcão, sem enfrentar filas.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lado da cantina, a equipe conta com um painel administrativo que possibilita o gerenciamento do cardápio, acompanhamento dos pedidos em tempo real e controle das entregas, facilitando a organização e o fluxo do atendimento.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Priorizamos a simplicidade, funcionalidade e integração total entre app e painel, oferecendo uma experiência eficiente tanto para os alunos quanto para a equipe da cantina.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6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2740" y="3056747"/>
            <a:ext cx="29592614" cy="1355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425" tIns="205700" rIns="411425" bIns="20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66" b="1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Professores: Katia Milani,  Marco Aurélio, Rodrigo da Rosa, Victor Bruno</a:t>
            </a:r>
            <a:endParaRPr sz="5866" b="1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4646784" y="33543418"/>
            <a:ext cx="13318910" cy="704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Futuro do projeto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6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pt-B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o futuro, o TECHSNACK DEV TEAM planeja expandir e aprimorar o Comedoria da Tia com funcionalidades que atendam cada vez melhor às necessidades dos alunos e da cantina, incluindo recompensas de fidelidade. Entre as principais melhorias estão notificações push para avisar quando o pedido estiver pronto, sistema de pontos e recompensas, relatórios automáticos de vendas e consumo, integração com novas formas de pagamento e expansão para outros campi da FECAP.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esses avanços, o projeto evoluirá para uma plataforma completa de gestão e atendimento, tornando os intervalos dos alunos mais rápidos, inteligentes e agradáveis, e fortalecendo a inovação tecnológica na FECAP.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6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7959431" y="11374593"/>
            <a:ext cx="12868819" cy="1569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6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 e ferramentas do Projeto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6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pic>
        <p:nvPicPr>
          <p:cNvPr id="100" name="Google Shape;100;p1" descr="Uma imagem contendo óculos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752" y="40356014"/>
            <a:ext cx="3095947" cy="3115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 descr="Uma imagem contendo óculos, caneca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801752" y="40382747"/>
            <a:ext cx="3095945" cy="3105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 descr="Uma imagem contendo Ícone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212571" y="12789409"/>
            <a:ext cx="1743887" cy="957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" descr="Fundo preto com letras brancas&#10;&#10;O conteúdo gerado por IA pode estar incorreto."/>
          <p:cNvPicPr preferRelativeResize="0"/>
          <p:nvPr/>
        </p:nvPicPr>
        <p:blipFill rotWithShape="1">
          <a:blip r:embed="rId7">
            <a:alphaModFix/>
          </a:blip>
          <a:srcRect l="26464" t="31972" r="23667" b="39257"/>
          <a:stretch/>
        </p:blipFill>
        <p:spPr>
          <a:xfrm>
            <a:off x="18104527" y="12741534"/>
            <a:ext cx="1096152" cy="1008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"/>
          <p:cNvPicPr preferRelativeResize="0"/>
          <p:nvPr/>
        </p:nvPicPr>
        <p:blipFill rotWithShape="1">
          <a:blip r:embed="rId8">
            <a:alphaModFix/>
          </a:blip>
          <a:srcRect l="10518" t="7005" r="10336" b="14011"/>
          <a:stretch/>
        </p:blipFill>
        <p:spPr>
          <a:xfrm>
            <a:off x="13100495" y="12775958"/>
            <a:ext cx="1949649" cy="947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 descr="Celular com tela ligada&#10;&#10;O conteúdo gerado por IA pode estar incorreto."/>
          <p:cNvPicPr preferRelativeResize="0"/>
          <p:nvPr/>
        </p:nvPicPr>
        <p:blipFill rotWithShape="1">
          <a:blip r:embed="rId9">
            <a:alphaModFix/>
          </a:blip>
          <a:srcRect l="7472" t="3255" r="13200" b="20669"/>
          <a:stretch/>
        </p:blipFill>
        <p:spPr>
          <a:xfrm>
            <a:off x="8005480" y="23762004"/>
            <a:ext cx="5233740" cy="9790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 descr="Celular com tela ligada&#10;&#10;O conteúdo gerado por IA pode estar incorreto."/>
          <p:cNvPicPr preferRelativeResize="0"/>
          <p:nvPr/>
        </p:nvPicPr>
        <p:blipFill rotWithShape="1">
          <a:blip r:embed="rId10">
            <a:alphaModFix/>
          </a:blip>
          <a:srcRect l="4268" t="4262" r="3937" b="4472"/>
          <a:stretch/>
        </p:blipFill>
        <p:spPr>
          <a:xfrm>
            <a:off x="15109382" y="23797038"/>
            <a:ext cx="5204416" cy="975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" descr="Tela de celular com foto de carro&#10;&#10;O conteúdo gerado por IA pode estar incorreto."/>
          <p:cNvPicPr preferRelativeResize="0"/>
          <p:nvPr/>
        </p:nvPicPr>
        <p:blipFill rotWithShape="1">
          <a:blip r:embed="rId11">
            <a:alphaModFix/>
          </a:blip>
          <a:srcRect l="5454" t="2030" r="3317" b="2538"/>
          <a:stretch>
            <a:fillRect/>
          </a:stretch>
        </p:blipFill>
        <p:spPr>
          <a:xfrm>
            <a:off x="1536774" y="14502509"/>
            <a:ext cx="4634753" cy="9234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"/>
          <p:cNvPicPr preferRelativeResize="0"/>
          <p:nvPr/>
        </p:nvPicPr>
        <p:blipFill rotWithShape="1">
          <a:blip r:embed="rId12">
            <a:alphaModFix/>
          </a:blip>
          <a:srcRect l="5334" t="20968" r="1892" b="23764"/>
          <a:stretch/>
        </p:blipFill>
        <p:spPr>
          <a:xfrm>
            <a:off x="15358740" y="12854191"/>
            <a:ext cx="2543891" cy="1008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"/>
          <p:cNvPicPr preferRelativeResize="0"/>
          <p:nvPr/>
        </p:nvPicPr>
        <p:blipFill rotWithShape="1">
          <a:blip r:embed="rId13">
            <a:alphaModFix/>
          </a:blip>
          <a:srcRect l="-4178" t="-11440" r="-3233" b="-11440"/>
          <a:stretch/>
        </p:blipFill>
        <p:spPr>
          <a:xfrm>
            <a:off x="10505685" y="12839348"/>
            <a:ext cx="2437137" cy="990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" descr="Ícone&#10;&#10;O conteúdo gerado por IA pode estar incorreto.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47769" y="12523016"/>
            <a:ext cx="1743880" cy="1211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 descr="Interface gráfica do usuário, Aplicativo&#10;&#10;O conteúdo gerado por IA pode estar incorreto."/>
          <p:cNvPicPr preferRelativeResize="0"/>
          <p:nvPr/>
        </p:nvPicPr>
        <p:blipFill rotWithShape="1">
          <a:blip r:embed="rId15">
            <a:alphaModFix/>
          </a:blip>
          <a:srcRect l="934" t="3000" r="4576" b="2500"/>
          <a:stretch>
            <a:fillRect/>
          </a:stretch>
        </p:blipFill>
        <p:spPr>
          <a:xfrm>
            <a:off x="15100203" y="14600985"/>
            <a:ext cx="5016316" cy="9254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 descr="Interface gráfica do usuário, Texto, Aplicativo, chat ou mensagem de texto&#10;&#10;O conteúdo gerado por IA pode estar incorreto."/>
          <p:cNvPicPr preferRelativeResize="0"/>
          <p:nvPr/>
        </p:nvPicPr>
        <p:blipFill rotWithShape="1">
          <a:blip r:embed="rId16">
            <a:alphaModFix/>
          </a:blip>
          <a:srcRect l="6218" t="3877" r="4939" b="7798"/>
          <a:stretch/>
        </p:blipFill>
        <p:spPr>
          <a:xfrm>
            <a:off x="21897938" y="14527372"/>
            <a:ext cx="5023577" cy="9184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 descr="Código QR&#10;&#10;O conteúdo gerado por IA pode estar incorreto."/>
          <p:cNvPicPr preferRelativeResize="0"/>
          <p:nvPr/>
        </p:nvPicPr>
        <p:blipFill rotWithShape="1">
          <a:blip r:embed="rId17">
            <a:alphaModFix/>
          </a:blip>
          <a:srcRect l="6780" t="2392" r="8177" b="8134"/>
          <a:stretch>
            <a:fillRect/>
          </a:stretch>
        </p:blipFill>
        <p:spPr>
          <a:xfrm>
            <a:off x="1552178" y="24018509"/>
            <a:ext cx="4637823" cy="913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 descr="Interface gráfica do usuário, Texto, Aplicativo, chat ou mensagem de texto&#10;&#10;O conteúdo gerado por IA pode estar incorreto."/>
          <p:cNvPicPr preferRelativeResize="0"/>
          <p:nvPr/>
        </p:nvPicPr>
        <p:blipFill rotWithShape="1">
          <a:blip r:embed="rId18">
            <a:alphaModFix/>
          </a:blip>
          <a:srcRect t="2230" b="2449"/>
          <a:stretch/>
        </p:blipFill>
        <p:spPr>
          <a:xfrm>
            <a:off x="21881444" y="23753700"/>
            <a:ext cx="5338738" cy="965796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0DB86CC-C613-45EC-B254-92A8032B4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88004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EF469DF-86BA-47C6-88A7-3E83CAB8350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476767" y="12523016"/>
            <a:ext cx="6170697" cy="126991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645</Words>
  <Application>Microsoft Office PowerPoint</Application>
  <PresentationFormat>Personalizar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Design padrão</vt:lpstr>
      <vt:lpstr>COMEDORIA DA TIA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COMEDORIA DA TIA</dc:title>
  <dc:creator>Jr</dc:creator>
  <cp:lastModifiedBy>Thiffany Morais Vieira da Silva</cp:lastModifiedBy>
  <cp:revision>385</cp:revision>
  <dcterms:created xsi:type="dcterms:W3CDTF">2006-11-04T15:46:42Z</dcterms:created>
  <dcterms:modified xsi:type="dcterms:W3CDTF">2025-11-11T00:41:08Z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